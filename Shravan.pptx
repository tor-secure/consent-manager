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0C4A7"/>
              </a:solidFill>
              <a:ln w="222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B2C4A"/>
              </a:solidFill>
              <a:ln w="222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A88F"/>
              </a:solidFill>
              <a:ln w="222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A9AA8"/>
              </a:solidFill>
              <a:ln w="222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Security safeguards</c:v>
                </c:pt>
                <c:pt idx="1">
                  <c:v>Breach notify / child data</c:v>
                </c:pt>
                <c:pt idx="2">
                  <c:v>Significant Data Fiduciary</c:v>
                </c:pt>
                <c:pt idx="3">
                  <c:v>Other specified breaches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</c:v>
                </c:pt>
                <c:pt idx="1">
                  <c:v>200</c:v>
                </c:pt>
                <c:pt idx="2">
                  <c:v>150</c:v>
                </c:pt>
                <c:pt idx="3">
                  <c:v>50</c:v>
                </c:pt>
              </c:numCache>
            </c:numRef>
          </c:val>
        </c:ser>
        <c:dLbls>
          <c:numFmt formatCode="₹0" sourceLinked="0"/>
          <c:txPr>
            <a:bodyPr/>
            <a:lstStyle/>
            <a:p>
              <a:pPr>
                <a:defRPr sz="1100" b="1">
                  <a:solidFill>
                    <a:srgbClr val="0B2C4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0B2C4A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1088136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"/>
            <a:ext cx="3977639" cy="29260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2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94944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000" b="0" i="0">
                <a:solidFill>
                  <a:srgbClr val="4D6570"/>
                </a:solidFill>
                <a:latin typeface="Calibri"/>
              </a:rPr>
              <a:t>CONSENT GURU  |  Consent Management. Simplified.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547104"/>
            <a:ext cx="31089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0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6565392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01  / 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792"/>
            <a:ext cx="11338560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100" b="1" i="0">
                <a:solidFill>
                  <a:srgbClr val="00C4A7"/>
                </a:solidFill>
                <a:latin typeface="Calibri"/>
              </a:rPr>
              <a:t>01  ·  THE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841248"/>
            <a:ext cx="11338560" cy="4389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/>
            <a:r>
              <a:rPr sz="2600" b="1" i="0">
                <a:solidFill>
                  <a:srgbClr val="0B2C4A"/>
                </a:solidFill>
                <a:latin typeface="Calibri"/>
              </a:rPr>
              <a:t>Why Consent. Why DPDP.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371600"/>
            <a:ext cx="36576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58368" rIns="146304" bIns="109728"/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2C4A"/>
                </a:solidFill>
                <a:latin typeface="Calibri"/>
              </a:rPr>
              <a:t>Users should know what data is collected and why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1536192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371600"/>
            <a:ext cx="36576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58368" rIns="146304" bIns="109728"/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2C4A"/>
                </a:solidFill>
                <a:latin typeface="Calibri"/>
              </a:rPr>
              <a:t>Consent provides a clear record of the individual's choice</a:t>
            </a:r>
          </a:p>
        </p:txBody>
      </p:sp>
      <p:sp>
        <p:nvSpPr>
          <p:cNvPr id="18" name="Oval 17"/>
          <p:cNvSpPr/>
          <p:nvPr/>
        </p:nvSpPr>
        <p:spPr>
          <a:xfrm>
            <a:off x="4370832" y="1536192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788920"/>
            <a:ext cx="36576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58368" rIns="146304" bIns="109728"/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2C4A"/>
                </a:solidFill>
                <a:latin typeface="Calibri"/>
              </a:rPr>
              <a:t>Users should be able to give, review and withdraw consent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" y="2953512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788920"/>
            <a:ext cx="36576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58368" rIns="146304" bIns="109728"/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2C4A"/>
                </a:solidFill>
                <a:latin typeface="Calibri"/>
              </a:rPr>
              <a:t>Organisations need mechanisms to demonstrate and manage consent</a:t>
            </a:r>
          </a:p>
        </p:txBody>
      </p:sp>
      <p:sp>
        <p:nvSpPr>
          <p:cNvPr id="22" name="Oval 21"/>
          <p:cNvSpPr/>
          <p:nvPr/>
        </p:nvSpPr>
        <p:spPr>
          <a:xfrm>
            <a:off x="4370832" y="2953512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371600"/>
            <a:ext cx="37947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256032" rIns="182880" b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C4A7"/>
                </a:solidFill>
                <a:latin typeface="Calibri"/>
              </a:rPr>
              <a:t>What is DPDP?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B2C4A"/>
                </a:solidFill>
                <a:latin typeface="Calibri"/>
              </a:rPr>
              <a:t>India's Digital Personal Data Protection Act, 2023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D6570"/>
                </a:solidFill>
                <a:latin typeface="Calibri"/>
              </a:rPr>
              <a:t>Provides a framework for processing digital personal data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D6570"/>
                </a:solidFill>
                <a:latin typeface="Calibri"/>
              </a:rPr>
              <a:t>Defines responsibilities of organisations processing personal data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D6570"/>
                </a:solidFill>
                <a:latin typeface="Calibri"/>
              </a:rPr>
              <a:t>Provides rights and protections for individuals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371600"/>
            <a:ext cx="3794760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4315968"/>
            <a:ext cx="7360920" cy="1901952"/>
          </a:xfrm>
          <a:prstGeom prst="roundRect">
            <a:avLst>
              <a:gd name="adj" fmla="val 10000"/>
            </a:avLst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46304" rIns="219456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C4A"/>
                </a:solidFill>
                <a:latin typeface="Calibri"/>
              </a:rPr>
              <a:t>DPDP Act specifically recognises the concept of a Consent Manager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D6570"/>
                </a:solidFill>
                <a:latin typeface="Calibri"/>
              </a:rPr>
              <a:t>India – DPDP Act: Explicitly recognises the Consent Manager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1088136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"/>
            <a:ext cx="3977639" cy="29260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2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94944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000" b="0" i="0">
                <a:solidFill>
                  <a:srgbClr val="4D6570"/>
                </a:solidFill>
                <a:latin typeface="Calibri"/>
              </a:rPr>
              <a:t>CONSENT GURU  |  Consent Management. Simplified.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547104"/>
            <a:ext cx="31089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0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6565392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  / 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792"/>
            <a:ext cx="11338560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100" b="1" i="0">
                <a:solidFill>
                  <a:srgbClr val="00C4A7"/>
                </a:solidFill>
                <a:latin typeface="Calibri"/>
              </a:rPr>
              <a:t>02  ·  THE STAKES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841248"/>
            <a:ext cx="11338560" cy="4389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/>
            <a:r>
              <a:rPr sz="2600" b="1" i="0">
                <a:solidFill>
                  <a:srgbClr val="0B2C4A"/>
                </a:solidFill>
                <a:latin typeface="Calibri"/>
              </a:rPr>
              <a:t>DPDP Penalties: Up to ₹250 Crore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371600"/>
            <a:ext cx="580644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02920" y="1554480"/>
          <a:ext cx="5532120" cy="3794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" y="5349240"/>
            <a:ext cx="5303520" cy="64008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ctr"/>
            <a:r>
              <a:rPr sz="1100" b="0" i="0">
                <a:solidFill>
                  <a:srgbClr val="4D6570"/>
                </a:solidFill>
                <a:latin typeface="Calibri"/>
              </a:rPr>
              <a:t>Penalty amounts in ₹ crore as specified under the DPDP 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371600"/>
            <a:ext cx="544068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 rIns="146304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C4A7"/>
                </a:solidFill>
                <a:latin typeface="Calibri"/>
              </a:rPr>
              <a:t>₹250 crore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4D6570"/>
                </a:solidFill>
                <a:latin typeface="Calibri"/>
              </a:rPr>
              <a:t>Failure to implement reasonable security safeguards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371600"/>
            <a:ext cx="91440" cy="1115568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2606040"/>
            <a:ext cx="544068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 rIns="146304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2C4A"/>
                </a:solidFill>
                <a:latin typeface="Calibri"/>
              </a:rPr>
              <a:t>₹200 crore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4D6570"/>
                </a:solidFill>
                <a:latin typeface="Calibri"/>
              </a:rPr>
              <a:t>Failure to notify a personal data breach and certain child-data obligations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606040"/>
            <a:ext cx="91440" cy="111556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3840480"/>
            <a:ext cx="544068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 rIns="146304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A88F"/>
                </a:solidFill>
                <a:latin typeface="Calibri"/>
              </a:rPr>
              <a:t>₹150 crore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4D6570"/>
                </a:solidFill>
                <a:latin typeface="Calibri"/>
              </a:rPr>
              <a:t>Breach of specified Significant Data Fiduciary obligations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840480"/>
            <a:ext cx="91440" cy="111556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5074920"/>
            <a:ext cx="544068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91440" rIns="146304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Calibri"/>
              </a:rPr>
              <a:t>₹50 crore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4D6570"/>
                </a:solidFill>
                <a:latin typeface="Calibri"/>
              </a:rPr>
              <a:t>Other specified breaches; ₹10,000 for specified Data Principal duties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074920"/>
            <a:ext cx="91440" cy="111556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1088136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"/>
            <a:ext cx="3977639" cy="29260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2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94944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000" b="0" i="0">
                <a:solidFill>
                  <a:srgbClr val="4D6570"/>
                </a:solidFill>
                <a:latin typeface="Calibri"/>
              </a:rPr>
              <a:t>CONSENT GURU  |  Consent Management. Simplified.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547104"/>
            <a:ext cx="31089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0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6565392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  / 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792"/>
            <a:ext cx="11338560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100" b="1" i="0">
                <a:solidFill>
                  <a:srgbClr val="00C4A7"/>
                </a:solidFill>
                <a:latin typeface="Calibri"/>
              </a:rPr>
              <a:t>03  ·  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841248"/>
            <a:ext cx="11338560" cy="4389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/>
            <a:r>
              <a:rPr sz="2600" b="1" i="0">
                <a:solidFill>
                  <a:srgbClr val="0B2C4A"/>
                </a:solidFill>
                <a:latin typeface="Calibri"/>
              </a:rPr>
              <a:t>What is Consent Guru?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371600"/>
            <a:ext cx="6537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58368" tIns="91440" rIns="146304" bIns="91440"/>
          <a:lstStyle/>
          <a:p>
            <a:pPr algn="l"/>
            <a:r>
              <a:rPr sz="1300" b="0" i="0">
                <a:solidFill>
                  <a:srgbClr val="0B2C4A"/>
                </a:solidFill>
                <a:latin typeface="Calibri"/>
              </a:rPr>
              <a:t>A Consent Management Platform for organisations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371600"/>
            <a:ext cx="82296" cy="1051560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2648" y="1723644"/>
            <a:ext cx="347472" cy="347472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A88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532888"/>
            <a:ext cx="6537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58368" tIns="91440" rIns="146304" bIns="91440"/>
          <a:lstStyle/>
          <a:p>
            <a:pPr algn="l"/>
            <a:r>
              <a:rPr sz="1300" b="0" i="0">
                <a:solidFill>
                  <a:srgbClr val="0B2C4A"/>
                </a:solidFill>
                <a:latin typeface="Calibri"/>
              </a:rPr>
              <a:t>Helps collect, record and manage user consent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32888"/>
            <a:ext cx="82296" cy="1051560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" y="2884932"/>
            <a:ext cx="347472" cy="347472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A88F"/>
                </a:solidFill>
                <a:latin typeface="Calibri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94176"/>
            <a:ext cx="6537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58368" tIns="91440" rIns="146304" bIns="91440"/>
          <a:lstStyle/>
          <a:p>
            <a:pPr algn="l"/>
            <a:r>
              <a:rPr sz="1300" b="0" i="0">
                <a:solidFill>
                  <a:srgbClr val="0B2C4A"/>
                </a:solidFill>
                <a:latin typeface="Calibri"/>
              </a:rPr>
              <a:t>Designed with the Indian privacy and DPDP ecosystem in mind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94176"/>
            <a:ext cx="82296" cy="1051560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4046220"/>
            <a:ext cx="347472" cy="347472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A88F"/>
                </a:solidFill>
                <a:latin typeface="Calibri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855464"/>
            <a:ext cx="6537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58368" tIns="91440" rIns="146304" bIns="91440"/>
          <a:lstStyle/>
          <a:p>
            <a:pPr algn="l"/>
            <a:r>
              <a:rPr sz="1300" b="0" i="0">
                <a:solidFill>
                  <a:srgbClr val="0B2C4A"/>
                </a:solidFill>
                <a:latin typeface="Calibri"/>
              </a:rPr>
              <a:t>Provides a centralised platform for consent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855464"/>
            <a:ext cx="82296" cy="1051560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5207508"/>
            <a:ext cx="347472" cy="347472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A88F"/>
                </a:solidFill>
                <a:latin typeface="Calibri"/>
              </a:rPr>
              <a:t>04</a:t>
            </a:r>
          </a:p>
        </p:txBody>
      </p:sp>
      <p:pic>
        <p:nvPicPr>
          <p:cNvPr id="27" name="Picture 26" descr="cg-platform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4617720" cy="4846320"/>
          </a:xfrm>
          <a:prstGeom prst="roundRect">
            <a:avLst>
              <a:gd name="adj" fmla="val 9000"/>
            </a:avLst>
          </a:prstGeom>
          <a:effectLst>
            <a:outerShdw blurRad="146304" dist="27432" dir="2700000" algn="tl" rotWithShape="0">
              <a:sRgbClr val="0B2C4A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1088136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"/>
            <a:ext cx="3977639" cy="29260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2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94944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000" b="0" i="0">
                <a:solidFill>
                  <a:srgbClr val="4D6570"/>
                </a:solidFill>
                <a:latin typeface="Calibri"/>
              </a:rPr>
              <a:t>CONSENT GURU  |  Consent Management. Simplified.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547104"/>
            <a:ext cx="31089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0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6565392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04  / 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792"/>
            <a:ext cx="11338560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100" b="1" i="0">
                <a:solidFill>
                  <a:srgbClr val="00C4A7"/>
                </a:solidFill>
                <a:latin typeface="Calibri"/>
              </a:rPr>
              <a:t>04  · 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841248"/>
            <a:ext cx="11338560" cy="4389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/>
            <a:r>
              <a:rPr sz="2600" b="1" i="0">
                <a:solidFill>
                  <a:srgbClr val="0B2C4A"/>
                </a:solidFill>
                <a:latin typeface="Calibri"/>
              </a:rPr>
              <a:t>Key Features of Consent Guru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353312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658368" rIns="146304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Consent banner and preference centre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353312"/>
            <a:ext cx="2788920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" y="1554480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1353312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658368" rIns="146304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Consent collection, recording and withdrawal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353312"/>
            <a:ext cx="2788920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02152" y="1554480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53312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658368" rIns="146304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Consent logs and 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353312"/>
            <a:ext cx="2788920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8232" y="1554480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353312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658368" rIns="146304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Website, cookie and third-party tracker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1353312"/>
            <a:ext cx="2788920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54312" y="1554480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822191"/>
            <a:ext cx="113385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00C4A7"/>
                </a:solidFill>
                <a:latin typeface="Calibri"/>
              </a:rPr>
              <a:t>Unique Features of Consent Guru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133087"/>
            <a:ext cx="2788920" cy="2084831"/>
          </a:xfrm>
          <a:prstGeom prst="roundRect">
            <a:avLst>
              <a:gd name="adj" fmla="val 10000"/>
            </a:avLst>
          </a:prstGeom>
          <a:solidFill>
            <a:srgbClr val="E6F9F5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 rIns="146304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01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1" i="0">
                <a:solidFill>
                  <a:srgbClr val="0B2C4A"/>
                </a:solidFill>
                <a:latin typeface="Calibri"/>
              </a:rPr>
              <a:t>India-first consent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4133087"/>
            <a:ext cx="2788920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 rIns="146304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02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1" i="0">
                <a:solidFill>
                  <a:srgbClr val="0B2C4A"/>
                </a:solidFill>
                <a:latin typeface="Calibri"/>
              </a:rPr>
              <a:t>Designed around the DPDP ecosystem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133087"/>
            <a:ext cx="2788920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 rIns="146304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03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1" i="0">
                <a:solidFill>
                  <a:srgbClr val="0B2C4A"/>
                </a:solidFill>
                <a:latin typeface="Calibri"/>
              </a:rPr>
              <a:t>Centralised management of multiple websites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4133087"/>
            <a:ext cx="2788920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 rIns="146304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04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1" i="0">
                <a:solidFill>
                  <a:srgbClr val="0B2C4A"/>
                </a:solidFill>
                <a:latin typeface="Calibri"/>
              </a:rPr>
              <a:t>Simple implementation for organisations of different sizes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1088136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"/>
            <a:ext cx="3977639" cy="29260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2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94944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000" b="0" i="0">
                <a:solidFill>
                  <a:srgbClr val="4D6570"/>
                </a:solidFill>
                <a:latin typeface="Calibri"/>
              </a:rPr>
              <a:t>CONSENT GURU  |  Consent Management. Simplified.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547104"/>
            <a:ext cx="31089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0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6565392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05  / 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792"/>
            <a:ext cx="11338560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100" b="1" i="0">
                <a:solidFill>
                  <a:srgbClr val="00C4A7"/>
                </a:solidFill>
                <a:latin typeface="Calibri"/>
              </a:rPr>
              <a:t>05  ·  WHY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841248"/>
            <a:ext cx="11338560" cy="4389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/>
            <a:r>
              <a:rPr sz="2600" b="1" i="0">
                <a:solidFill>
                  <a:srgbClr val="0B2C4A"/>
                </a:solidFill>
                <a:latin typeface="Calibri"/>
              </a:rPr>
              <a:t>Consent Guru vs other CMPs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353312"/>
            <a:ext cx="11384280" cy="960120"/>
          </a:xfrm>
          <a:prstGeom prst="roundRect">
            <a:avLst>
              <a:gd name="adj" fmla="val 10000"/>
            </a:avLst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10972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C4A"/>
                </a:solidFill>
                <a:latin typeface="Calibri"/>
              </a:rPr>
              <a:t>Consent Guru differentiates through its India-first and DPDP-focused positioning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450592"/>
            <a:ext cx="2194560" cy="438912"/>
          </a:xfrm>
          <a:prstGeom prst="roundRect">
            <a:avLst>
              <a:gd name="adj" fmla="val 40000"/>
            </a:avLst>
          </a:prstGeom>
          <a:solidFill>
            <a:srgbClr val="E6F9F5"/>
          </a:solidFill>
          <a:ln w="12700">
            <a:solidFill>
              <a:srgbClr val="00C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C4A"/>
                </a:solidFill>
                <a:latin typeface="Calibri"/>
              </a:rPr>
              <a:t>Consent Guru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450592"/>
            <a:ext cx="2194560" cy="43891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C4A"/>
                </a:solidFill>
                <a:latin typeface="Calibri"/>
              </a:rPr>
              <a:t>OneTrust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450592"/>
            <a:ext cx="2194560" cy="43891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C4A"/>
                </a:solidFill>
                <a:latin typeface="Calibri"/>
              </a:rPr>
              <a:t>Usercentrics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450592"/>
            <a:ext cx="2194560" cy="43891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C4A"/>
                </a:solidFill>
                <a:latin typeface="Calibri"/>
              </a:rPr>
              <a:t>Cookiebot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59" y="2450592"/>
            <a:ext cx="2194560" cy="43891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C4A"/>
                </a:solidFill>
                <a:latin typeface="Calibri"/>
              </a:rPr>
              <a:t>Didomi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063240"/>
            <a:ext cx="562356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28016" rIns="182880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C4A"/>
                </a:solidFill>
                <a:latin typeface="Calibri"/>
              </a:rPr>
              <a:t>Consent Guru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D6570"/>
                </a:solidFill>
                <a:latin typeface="Calibri"/>
              </a:rPr>
              <a:t>India / DPDP-focused consent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63240"/>
            <a:ext cx="91440" cy="1481328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40"/>
            <a:ext cx="562356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28016" rIns="182880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C4A"/>
                </a:solidFill>
                <a:latin typeface="Calibri"/>
              </a:rPr>
              <a:t>CookieYes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D6570"/>
                </a:solidFill>
                <a:latin typeface="Calibri"/>
              </a:rPr>
              <a:t>Global / SMB-oriented CMP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63240"/>
            <a:ext cx="91440" cy="1481328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4663440"/>
            <a:ext cx="562356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28016" rIns="182880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C4A"/>
                </a:solidFill>
                <a:latin typeface="Calibri"/>
              </a:rPr>
              <a:t>Complianz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D6570"/>
                </a:solidFill>
                <a:latin typeface="Calibri"/>
              </a:rPr>
              <a:t>Website / WordPress-oriented privacy 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663440"/>
            <a:ext cx="91440" cy="148132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663440"/>
            <a:ext cx="562356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28016" rIns="182880" b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C4A"/>
                </a:solidFill>
                <a:latin typeface="Calibri"/>
              </a:rPr>
              <a:t>OneTrust and Usercentrics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D6570"/>
                </a:solidFill>
                <a:latin typeface="Calibri"/>
              </a:rPr>
              <a:t>Global enterprise/privacy platforms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663440"/>
            <a:ext cx="91440" cy="1481328"/>
          </a:xfrm>
          <a:prstGeom prst="rect">
            <a:avLst/>
          </a:prstGeom>
          <a:solidFill>
            <a:srgbClr val="5B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1088136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"/>
            <a:ext cx="3977639" cy="29260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2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94944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000" b="0" i="0">
                <a:solidFill>
                  <a:srgbClr val="4D6570"/>
                </a:solidFill>
                <a:latin typeface="Calibri"/>
              </a:rPr>
              <a:t>CONSENT GURU  |  Consent Management. Simplified.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547104"/>
            <a:ext cx="31089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0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6565392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06  / 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792"/>
            <a:ext cx="11338560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100" b="1" i="0">
                <a:solidFill>
                  <a:srgbClr val="00C4A7"/>
                </a:solidFill>
                <a:latin typeface="Calibri"/>
              </a:rPr>
              <a:t>06  ·  GO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841248"/>
            <a:ext cx="11338560" cy="4389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/>
            <a:r>
              <a:rPr sz="2600" b="1" i="0">
                <a:solidFill>
                  <a:srgbClr val="0B2C4A"/>
                </a:solidFill>
                <a:latin typeface="Calibri"/>
              </a:rPr>
              <a:t>How to Install Consent Guru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353312"/>
            <a:ext cx="67208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73152" rIns="146304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Create your Consent Guru account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1499616"/>
            <a:ext cx="420624" cy="420624"/>
          </a:xfrm>
          <a:prstGeom prst="ellipse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157984"/>
            <a:ext cx="67208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73152" rIns="146304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Add and configure your website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2304288"/>
            <a:ext cx="420624" cy="420624"/>
          </a:xfrm>
          <a:prstGeom prst="ellipse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962656"/>
            <a:ext cx="67208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73152" rIns="146304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Configure consent categories, purposes and preferences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3108960"/>
            <a:ext cx="420624" cy="420624"/>
          </a:xfrm>
          <a:prstGeom prst="ellipse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67328"/>
            <a:ext cx="67208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73152" rIns="146304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Add the Consent Guru script to your website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3913632"/>
            <a:ext cx="420624" cy="420624"/>
          </a:xfrm>
          <a:prstGeom prst="ellipse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3" name="Picture 22" descr="cg-inst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53312"/>
            <a:ext cx="4434840" cy="2788920"/>
          </a:xfrm>
          <a:prstGeom prst="roundRect">
            <a:avLst>
              <a:gd name="adj" fmla="val 9000"/>
            </a:avLst>
          </a:prstGeom>
          <a:effectLst>
            <a:outerShdw blurRad="146304" dist="27432" dir="2700000" algn="tl" rotWithShape="0">
              <a:sRgbClr val="0B2C4A">
                <a:alpha val="10000"/>
              </a:sRgbClr>
            </a:outerShdw>
          </a:effectLst>
        </p:spPr>
      </p:pic>
      <p:sp>
        <p:nvSpPr>
          <p:cNvPr id="24" name="Rounded Rectangle 23"/>
          <p:cNvSpPr/>
          <p:nvPr/>
        </p:nvSpPr>
        <p:spPr>
          <a:xfrm>
            <a:off x="411480" y="4736592"/>
            <a:ext cx="3749039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01168" rIns="146304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8F"/>
                </a:solidFill>
                <a:latin typeface="Calibri"/>
              </a:rPr>
              <a:t>On the website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0B2C4A"/>
                </a:solidFill>
                <a:latin typeface="Calibri"/>
              </a:rPr>
              <a:t>Clear options to Accept, Reject or Manage Preferences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736592"/>
            <a:ext cx="3749039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4736592"/>
            <a:ext cx="3749039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01168" rIns="146304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8F"/>
                </a:solidFill>
                <a:latin typeface="Calibri"/>
              </a:rPr>
              <a:t>Multiple websites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0B2C4A"/>
                </a:solidFill>
                <a:latin typeface="Calibri"/>
              </a:rPr>
              <a:t>Add and manage multiple websites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736592"/>
            <a:ext cx="3749039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79" y="4736592"/>
            <a:ext cx="3749039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01168" rIns="146304" b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8F"/>
                </a:solidFill>
                <a:latin typeface="Calibri"/>
              </a:rPr>
              <a:t>One dashboard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0B2C4A"/>
                </a:solidFill>
                <a:latin typeface="Calibri"/>
              </a:rPr>
              <a:t>Centralise consent configurations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736592"/>
            <a:ext cx="3749039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1088136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"/>
            <a:ext cx="3977639" cy="29260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2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94944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000" b="0" i="0">
                <a:solidFill>
                  <a:srgbClr val="4D6570"/>
                </a:solidFill>
                <a:latin typeface="Calibri"/>
              </a:rPr>
              <a:t>CONSENT GURU  |  Consent Management. Simplified.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547104"/>
            <a:ext cx="31089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0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6565392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07  / 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792"/>
            <a:ext cx="11338560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100" b="1" i="0">
                <a:solidFill>
                  <a:srgbClr val="00C4A7"/>
                </a:solidFill>
                <a:latin typeface="Calibri"/>
              </a:rPr>
              <a:t>07  · 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841248"/>
            <a:ext cx="11338560" cy="4389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/>
            <a:r>
              <a:rPr sz="2600" b="1" i="0">
                <a:solidFill>
                  <a:srgbClr val="0B2C4A"/>
                </a:solidFill>
                <a:latin typeface="Calibri"/>
              </a:rPr>
              <a:t>Why Businesses Need Consent Guru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353312"/>
            <a:ext cx="5623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58368" rIns="146304" bIns="109728"/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2C4A"/>
                </a:solidFill>
                <a:latin typeface="Calibri"/>
              </a:rPr>
              <a:t>Simplify consent management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1517904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53312"/>
            <a:ext cx="5623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58368" rIns="146304" bIns="109728"/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2C4A"/>
                </a:solidFill>
                <a:latin typeface="Calibri"/>
              </a:rPr>
              <a:t>Maintain centralised consent records</a:t>
            </a:r>
          </a:p>
        </p:txBody>
      </p:sp>
      <p:sp>
        <p:nvSpPr>
          <p:cNvPr id="18" name="Oval 17"/>
          <p:cNvSpPr/>
          <p:nvPr/>
        </p:nvSpPr>
        <p:spPr>
          <a:xfrm>
            <a:off x="6428232" y="1517904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044952"/>
            <a:ext cx="5623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58368" rIns="146304" bIns="109728"/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2C4A"/>
                </a:solidFill>
                <a:latin typeface="Calibri"/>
              </a:rPr>
              <a:t>Improve transparency and user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" y="3209544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44952"/>
            <a:ext cx="5623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58368" rIns="146304" bIns="109728"/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B2C4A"/>
                </a:solidFill>
                <a:latin typeface="Calibri"/>
              </a:rPr>
              <a:t>Support organisational privacy and compliance processes</a:t>
            </a:r>
          </a:p>
        </p:txBody>
      </p:sp>
      <p:sp>
        <p:nvSpPr>
          <p:cNvPr id="22" name="Oval 21"/>
          <p:cNvSpPr/>
          <p:nvPr/>
        </p:nvSpPr>
        <p:spPr>
          <a:xfrm>
            <a:off x="6428232" y="3209544"/>
            <a:ext cx="384048" cy="384048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8F"/>
                </a:solidFill>
                <a:latin typeface="Calibri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892040"/>
            <a:ext cx="1828800" cy="566928"/>
          </a:xfrm>
          <a:prstGeom prst="roundRect">
            <a:avLst>
              <a:gd name="adj" fmla="val 35000"/>
            </a:avLst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Collect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21992" y="5102352"/>
            <a:ext cx="164592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68296" y="4892040"/>
            <a:ext cx="1828800" cy="566928"/>
          </a:xfrm>
          <a:prstGeom prst="roundRect">
            <a:avLst>
              <a:gd name="adj" fmla="val 35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8808" y="5102352"/>
            <a:ext cx="164592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5112" y="4892040"/>
            <a:ext cx="1828800" cy="566928"/>
          </a:xfrm>
          <a:prstGeom prst="roundRect">
            <a:avLst>
              <a:gd name="adj" fmla="val 35000"/>
            </a:avLst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35624" y="5102352"/>
            <a:ext cx="164592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81928" y="4892040"/>
            <a:ext cx="1828800" cy="566928"/>
          </a:xfrm>
          <a:prstGeom prst="roundRect">
            <a:avLst>
              <a:gd name="adj" fmla="val 35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Communicate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5102352"/>
            <a:ext cx="164592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38744" y="4892040"/>
            <a:ext cx="1828800" cy="566928"/>
          </a:xfrm>
          <a:prstGeom prst="roundRect">
            <a:avLst>
              <a:gd name="adj" fmla="val 35000"/>
            </a:avLst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Withdraw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49256" y="5102352"/>
            <a:ext cx="164592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95560" y="4892040"/>
            <a:ext cx="1828800" cy="566928"/>
          </a:xfrm>
          <a:prstGeom prst="roundRect">
            <a:avLst>
              <a:gd name="adj" fmla="val 35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36576" r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559552"/>
            <a:ext cx="11338560" cy="65836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300" b="0" i="0">
                <a:solidFill>
                  <a:srgbClr val="4D6570"/>
                </a:solidFill>
                <a:latin typeface="Calibri"/>
              </a:rPr>
              <a:t>Collect → Record → Manage → Communicate → Withdraw → Audit    ·    Consent is not simply a one-time checkbox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120640"/>
            <a:ext cx="2377440" cy="2377440"/>
          </a:xfrm>
          <a:prstGeom prst="ellipse">
            <a:avLst/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6304"/>
            <a:ext cx="1088136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"/>
            <a:ext cx="3977639" cy="29260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2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00C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694944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000" b="0" i="0">
                <a:solidFill>
                  <a:srgbClr val="4D6570"/>
                </a:solidFill>
                <a:latin typeface="Calibri"/>
              </a:rPr>
              <a:t>CONSENT GURU  |  Consent Management. Simplified.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547104"/>
            <a:ext cx="3108960" cy="256032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r"/>
            <a:r>
              <a:rPr sz="1000" b="1" i="0">
                <a:solidFill>
                  <a:srgbClr val="00C4A7"/>
                </a:solidFill>
                <a:latin typeface="Calibri"/>
              </a:rPr>
              <a:t>www.consentguru.com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6565392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08  / 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1792"/>
            <a:ext cx="11338560" cy="237744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l"/>
            <a:r>
              <a:rPr sz="1100" b="1" i="0">
                <a:solidFill>
                  <a:srgbClr val="00C4A7"/>
                </a:solidFill>
                <a:latin typeface="Calibri"/>
              </a:rPr>
              <a:t>08  ·  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841248"/>
            <a:ext cx="11338560" cy="4389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/>
            <a:r>
              <a:rPr sz="2600" b="1" i="0">
                <a:solidFill>
                  <a:srgbClr val="0B2C4A"/>
                </a:solidFill>
                <a:latin typeface="Calibri"/>
              </a:rPr>
              <a:t>Experience Consent Guru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353312"/>
            <a:ext cx="374903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91440" r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2C4A"/>
                </a:solidFill>
                <a:latin typeface="Calibri"/>
              </a:rPr>
              <a:t>Your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353312"/>
            <a:ext cx="374903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91440" r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A88F"/>
                </a:solidFill>
                <a:latin typeface="Calibri"/>
              </a:rPr>
              <a:t>Your Consent.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353312"/>
            <a:ext cx="374903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" tIns="91440" r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C4A7"/>
                </a:solidFill>
                <a:latin typeface="Calibri"/>
              </a:rPr>
              <a:t>Your Choice.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52928"/>
            <a:ext cx="6720840" cy="1417320"/>
          </a:xfrm>
          <a:prstGeom prst="roundRect">
            <a:avLst>
              <a:gd name="adj" fmla="val 10000"/>
            </a:avLst>
          </a:prstGeom>
          <a:solidFill>
            <a:srgbClr val="0B2C4A"/>
          </a:solidFill>
          <a:ln>
            <a:noFill/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9184" tIns="164592" rIns="219456" b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CONSENT GURU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00C4A7"/>
                </a:solidFill>
                <a:latin typeface="Calibri"/>
              </a:rPr>
              <a:t>Consent Management. Simplified.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2852928"/>
            <a:ext cx="44348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0DE"/>
            </a:solidFill>
          </a:ln>
          <a:effectLst>
            <a:outerShdw blurRad="164592" dist="36576" dir="2700000" algn="tl" rotWithShape="0">
              <a:sRgbClr val="0B2C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46304" rIns="182880" b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C4A"/>
                </a:solidFill>
                <a:latin typeface="Calibri"/>
              </a:rPr>
              <a:t>Website: www.consentguru.in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1" i="0">
                <a:solidFill>
                  <a:srgbClr val="00A88F"/>
                </a:solidFill>
                <a:latin typeface="Calibri"/>
              </a:rPr>
              <a:t>www.consentguru.com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462272"/>
            <a:ext cx="6720840" cy="1755648"/>
          </a:xfrm>
          <a:prstGeom prst="roundRect">
            <a:avLst>
              <a:gd name="adj" fmla="val 10000"/>
            </a:avLst>
          </a:prstGeom>
          <a:solidFill>
            <a:srgbClr val="E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82880" rIns="219456" bIns="16459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C4A"/>
                </a:solidFill>
                <a:latin typeface="Calibri"/>
              </a:rPr>
              <a:t>Email / Phone / Address: Add your official details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00A88F"/>
                </a:solidFill>
                <a:latin typeface="Calibri"/>
              </a:rPr>
              <a:t>Questions?</a:t>
            </a:r>
          </a:p>
        </p:txBody>
      </p:sp>
      <p:pic>
        <p:nvPicPr>
          <p:cNvPr id="21" name="Picture 20" descr="cg-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4462272"/>
            <a:ext cx="4434840" cy="1755648"/>
          </a:xfrm>
          <a:prstGeom prst="roundRect">
            <a:avLst>
              <a:gd name="adj" fmla="val 9000"/>
            </a:avLst>
          </a:prstGeom>
          <a:effectLst>
            <a:outerShdw blurRad="146304" dist="27432" dir="2700000" algn="tl" rotWithShape="0">
              <a:sRgbClr val="0B2C4A">
                <a:alpha val="1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 Guru — Pitch Deck</dc:title>
  <dc:subject>8-slide Consent Guru pitch</dc:subject>
  <dc:creator>Consent Guru</dc:creator>
  <cp:keywords/>
  <dc:description>Pitch cut of base deck. Facts unchanged. www.consentguru.com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